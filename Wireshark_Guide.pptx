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tableStyles" Target="tableStyles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4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948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94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5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0D1B2A"/>
          </a:solidFill>
        </p:spPr>
      </p:sp>
      <p:sp>
        <p:nvSpPr>
          <p:cNvPr id="1048577" name="Shape 1"/>
          <p:cNvSpPr/>
          <p:nvPr/>
        </p:nvSpPr>
        <p:spPr>
          <a:xfrm>
            <a:off x="0" y="3474720"/>
            <a:ext cx="9144000" cy="1668780"/>
          </a:xfrm>
          <a:prstGeom prst="rect"/>
          <a:solidFill>
            <a:srgbClr val="122040"/>
          </a:solidFill>
        </p:spPr>
      </p:sp>
      <p:sp>
        <p:nvSpPr>
          <p:cNvPr id="1048578" name="Shape 2"/>
          <p:cNvSpPr/>
          <p:nvPr/>
        </p:nvSpPr>
        <p:spPr>
          <a:xfrm>
            <a:off x="3840480" y="457200"/>
            <a:ext cx="1463040" cy="1463040"/>
          </a:xfrm>
          <a:prstGeom prst="roundRect">
            <a:avLst>
              <a:gd name="adj" fmla="val 50000"/>
            </a:avLst>
          </a:prstGeom>
          <a:solidFill>
            <a:srgbClr val="00838F"/>
          </a:solidFill>
        </p:spPr>
      </p:sp>
      <p:sp>
        <p:nvSpPr>
          <p:cNvPr id="1048579" name="Text 3"/>
          <p:cNvSpPr/>
          <p:nvPr/>
        </p:nvSpPr>
        <p:spPr>
          <a:xfrm>
            <a:off x="3840480" y="457200"/>
            <a:ext cx="1463040" cy="1463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4400" lang="en-US">
                <a:solidFill>
                  <a:srgbClr val="000000"/>
                </a:solidFill>
              </a:rPr>
              <a:t>🦈</a:t>
            </a:r>
            <a:endParaRPr dirty="0" sz="4400" lang="en-US"/>
          </a:p>
        </p:txBody>
      </p:sp>
      <p:sp>
        <p:nvSpPr>
          <p:cNvPr id="1048580" name="Text 4"/>
          <p:cNvSpPr/>
          <p:nvPr/>
        </p:nvSpPr>
        <p:spPr>
          <a:xfrm>
            <a:off x="457200" y="2103120"/>
            <a:ext cx="82296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dirty="0" sz="4000" lang="en-US"/>
          </a:p>
        </p:txBody>
      </p:sp>
      <p:sp>
        <p:nvSpPr>
          <p:cNvPr id="1048581" name="Text 5"/>
          <p:cNvSpPr/>
          <p:nvPr/>
        </p:nvSpPr>
        <p:spPr>
          <a:xfrm>
            <a:off x="457200" y="3154680"/>
            <a:ext cx="822960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800" lang="en-US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Guide: Beginner to Professional — Packets, Filters, Analysis &amp; Security</a:t>
            </a:r>
            <a:endParaRPr dirty="0" sz="1800" lang="en-US"/>
          </a:p>
        </p:txBody>
      </p:sp>
      <p:sp>
        <p:nvSpPr>
          <p:cNvPr id="1048582" name="Text 6"/>
          <p:cNvSpPr/>
          <p:nvPr/>
        </p:nvSpPr>
        <p:spPr>
          <a:xfrm>
            <a:off x="457200" y="4206240"/>
            <a:ext cx="82296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A  |  Cybersecurity Professional  |  CEH Certified</a:t>
            </a:r>
            <a:endParaRPr dirty="0" sz="12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50D1A"/>
          </a:solidFill>
        </p:spPr>
      </p:sp>
      <p:sp>
        <p:nvSpPr>
          <p:cNvPr id="1048587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dirty="0" sz="2200" lang="en-US"/>
          </a:p>
        </p:txBody>
      </p:sp>
      <p:sp>
        <p:nvSpPr>
          <p:cNvPr id="1048588" name="Shape 2"/>
          <p:cNvSpPr/>
          <p:nvPr/>
        </p:nvSpPr>
        <p:spPr>
          <a:xfrm>
            <a:off x="274320" y="914400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589" name="Text 3"/>
          <p:cNvSpPr/>
          <p:nvPr/>
        </p:nvSpPr>
        <p:spPr>
          <a:xfrm>
            <a:off x="365760" y="914400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1700" lang="en-US"/>
          </a:p>
        </p:txBody>
      </p:sp>
      <p:sp>
        <p:nvSpPr>
          <p:cNvPr id="1048590" name="Text 4"/>
          <p:cNvSpPr/>
          <p:nvPr/>
        </p:nvSpPr>
        <p:spPr>
          <a:xfrm>
            <a:off x="932688" y="932688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Wireshark?</a:t>
            </a:r>
            <a:endParaRPr dirty="0" sz="1300" lang="en-US"/>
          </a:p>
        </p:txBody>
      </p:sp>
      <p:sp>
        <p:nvSpPr>
          <p:cNvPr id="1048591" name="Text 5"/>
          <p:cNvSpPr/>
          <p:nvPr/>
        </p:nvSpPr>
        <p:spPr>
          <a:xfrm>
            <a:off x="932688" y="1261872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&amp; Interface Overview</a:t>
            </a:r>
            <a:endParaRPr dirty="0" sz="1000" lang="en-US"/>
          </a:p>
        </p:txBody>
      </p:sp>
      <p:sp>
        <p:nvSpPr>
          <p:cNvPr id="1048592" name="Shape 6"/>
          <p:cNvSpPr/>
          <p:nvPr/>
        </p:nvSpPr>
        <p:spPr>
          <a:xfrm>
            <a:off x="274320" y="1719072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593" name="Text 7"/>
          <p:cNvSpPr/>
          <p:nvPr/>
        </p:nvSpPr>
        <p:spPr>
          <a:xfrm>
            <a:off x="365760" y="1719072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700" lang="en-US"/>
          </a:p>
        </p:txBody>
      </p:sp>
      <p:sp>
        <p:nvSpPr>
          <p:cNvPr id="1048594" name="Text 8"/>
          <p:cNvSpPr/>
          <p:nvPr/>
        </p:nvSpPr>
        <p:spPr>
          <a:xfrm>
            <a:off x="932688" y="1737360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Packets</a:t>
            </a:r>
            <a:endParaRPr dirty="0" sz="1300" lang="en-US"/>
          </a:p>
        </p:txBody>
      </p:sp>
      <p:sp>
        <p:nvSpPr>
          <p:cNvPr id="1048595" name="Text 9"/>
          <p:cNvSpPr/>
          <p:nvPr/>
        </p:nvSpPr>
        <p:spPr>
          <a:xfrm>
            <a:off x="932688" y="2066544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Capture + Filters</a:t>
            </a:r>
            <a:endParaRPr dirty="0" sz="1000" lang="en-US"/>
          </a:p>
        </p:txBody>
      </p:sp>
      <p:sp>
        <p:nvSpPr>
          <p:cNvPr id="1048596" name="Shape 10"/>
          <p:cNvSpPr/>
          <p:nvPr/>
        </p:nvSpPr>
        <p:spPr>
          <a:xfrm>
            <a:off x="274320" y="2523744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597" name="Text 11"/>
          <p:cNvSpPr/>
          <p:nvPr/>
        </p:nvSpPr>
        <p:spPr>
          <a:xfrm>
            <a:off x="365760" y="2523744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700" lang="en-US"/>
          </a:p>
        </p:txBody>
      </p:sp>
      <p:sp>
        <p:nvSpPr>
          <p:cNvPr id="1048598" name="Text 12"/>
          <p:cNvSpPr/>
          <p:nvPr/>
        </p:nvSpPr>
        <p:spPr>
          <a:xfrm>
            <a:off x="932688" y="2542032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Filters</a:t>
            </a:r>
            <a:endParaRPr dirty="0" sz="1300" lang="en-US"/>
          </a:p>
        </p:txBody>
      </p:sp>
      <p:sp>
        <p:nvSpPr>
          <p:cNvPr id="1048599" name="Text 13"/>
          <p:cNvSpPr/>
          <p:nvPr/>
        </p:nvSpPr>
        <p:spPr>
          <a:xfrm>
            <a:off x="932688" y="2871216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Essential Filter Commands</a:t>
            </a:r>
            <a:endParaRPr dirty="0" sz="1000" lang="en-US"/>
          </a:p>
        </p:txBody>
      </p:sp>
      <p:sp>
        <p:nvSpPr>
          <p:cNvPr id="1048600" name="Shape 14"/>
          <p:cNvSpPr/>
          <p:nvPr/>
        </p:nvSpPr>
        <p:spPr>
          <a:xfrm>
            <a:off x="274320" y="3328416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601" name="Text 15"/>
          <p:cNvSpPr/>
          <p:nvPr/>
        </p:nvSpPr>
        <p:spPr>
          <a:xfrm>
            <a:off x="365760" y="3328416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700" lang="en-US"/>
          </a:p>
        </p:txBody>
      </p:sp>
      <p:sp>
        <p:nvSpPr>
          <p:cNvPr id="1048602" name="Text 16"/>
          <p:cNvSpPr/>
          <p:nvPr/>
        </p:nvSpPr>
        <p:spPr>
          <a:xfrm>
            <a:off x="932688" y="3346704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Analysis</a:t>
            </a:r>
            <a:endParaRPr dirty="0" sz="1300" lang="en-US"/>
          </a:p>
        </p:txBody>
      </p:sp>
      <p:sp>
        <p:nvSpPr>
          <p:cNvPr id="1048603" name="Text 17"/>
          <p:cNvSpPr/>
          <p:nvPr/>
        </p:nvSpPr>
        <p:spPr>
          <a:xfrm>
            <a:off x="932688" y="3675888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DNS, TCP, TLS, ICMP, ARP</a:t>
            </a:r>
            <a:endParaRPr dirty="0" sz="1000" lang="en-US"/>
          </a:p>
        </p:txBody>
      </p:sp>
      <p:sp>
        <p:nvSpPr>
          <p:cNvPr id="1048604" name="Shape 18"/>
          <p:cNvSpPr/>
          <p:nvPr/>
        </p:nvSpPr>
        <p:spPr>
          <a:xfrm>
            <a:off x="274320" y="4133088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605" name="Text 19"/>
          <p:cNvSpPr/>
          <p:nvPr/>
        </p:nvSpPr>
        <p:spPr>
          <a:xfrm>
            <a:off x="365760" y="4133088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700" lang="en-US"/>
          </a:p>
        </p:txBody>
      </p:sp>
      <p:sp>
        <p:nvSpPr>
          <p:cNvPr id="1048606" name="Text 20"/>
          <p:cNvSpPr/>
          <p:nvPr/>
        </p:nvSpPr>
        <p:spPr>
          <a:xfrm>
            <a:off x="932688" y="4151376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Streams</a:t>
            </a:r>
            <a:endParaRPr dirty="0" sz="1300" lang="en-US"/>
          </a:p>
        </p:txBody>
      </p:sp>
      <p:sp>
        <p:nvSpPr>
          <p:cNvPr id="1048607" name="Text 21"/>
          <p:cNvSpPr/>
          <p:nvPr/>
        </p:nvSpPr>
        <p:spPr>
          <a:xfrm>
            <a:off x="932688" y="4480560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Stream, HTTP Reconstruction</a:t>
            </a:r>
            <a:endParaRPr dirty="0" sz="1000" lang="en-US"/>
          </a:p>
        </p:txBody>
      </p:sp>
      <p:sp>
        <p:nvSpPr>
          <p:cNvPr id="1048608" name="Shape 22"/>
          <p:cNvSpPr/>
          <p:nvPr/>
        </p:nvSpPr>
        <p:spPr>
          <a:xfrm>
            <a:off x="4754880" y="914400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609" name="Text 23"/>
          <p:cNvSpPr/>
          <p:nvPr/>
        </p:nvSpPr>
        <p:spPr>
          <a:xfrm>
            <a:off x="4846320" y="914400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1700" lang="en-US"/>
          </a:p>
        </p:txBody>
      </p:sp>
      <p:sp>
        <p:nvSpPr>
          <p:cNvPr id="1048610" name="Text 24"/>
          <p:cNvSpPr/>
          <p:nvPr/>
        </p:nvSpPr>
        <p:spPr>
          <a:xfrm>
            <a:off x="5413248" y="932688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Expert Info</a:t>
            </a:r>
            <a:endParaRPr dirty="0" sz="1300" lang="en-US"/>
          </a:p>
        </p:txBody>
      </p:sp>
      <p:sp>
        <p:nvSpPr>
          <p:cNvPr id="1048611" name="Text 25"/>
          <p:cNvSpPr/>
          <p:nvPr/>
        </p:nvSpPr>
        <p:spPr>
          <a:xfrm>
            <a:off x="5413248" y="1261872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 Graph, Conversations, Endpoints</a:t>
            </a:r>
            <a:endParaRPr dirty="0" sz="1000" lang="en-US"/>
          </a:p>
        </p:txBody>
      </p:sp>
      <p:sp>
        <p:nvSpPr>
          <p:cNvPr id="1048612" name="Shape 26"/>
          <p:cNvSpPr/>
          <p:nvPr/>
        </p:nvSpPr>
        <p:spPr>
          <a:xfrm>
            <a:off x="4754880" y="1719072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613" name="Text 27"/>
          <p:cNvSpPr/>
          <p:nvPr/>
        </p:nvSpPr>
        <p:spPr>
          <a:xfrm>
            <a:off x="4846320" y="1719072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dirty="0" sz="1700" lang="en-US"/>
          </a:p>
        </p:txBody>
      </p:sp>
      <p:sp>
        <p:nvSpPr>
          <p:cNvPr id="1048614" name="Text 28"/>
          <p:cNvSpPr/>
          <p:nvPr/>
        </p:nvSpPr>
        <p:spPr>
          <a:xfrm>
            <a:off x="5413248" y="1737360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dirty="0" sz="1300" lang="en-US"/>
          </a:p>
        </p:txBody>
      </p:sp>
      <p:sp>
        <p:nvSpPr>
          <p:cNvPr id="1048615" name="Text 29"/>
          <p:cNvSpPr/>
          <p:nvPr/>
        </p:nvSpPr>
        <p:spPr>
          <a:xfrm>
            <a:off x="5413248" y="2066544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Detection &amp; IOC Hunting</a:t>
            </a:r>
            <a:endParaRPr dirty="0" sz="1000" lang="en-US"/>
          </a:p>
        </p:txBody>
      </p:sp>
      <p:sp>
        <p:nvSpPr>
          <p:cNvPr id="1048616" name="Shape 30"/>
          <p:cNvSpPr/>
          <p:nvPr/>
        </p:nvSpPr>
        <p:spPr>
          <a:xfrm>
            <a:off x="4754880" y="2523744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617" name="Text 31"/>
          <p:cNvSpPr/>
          <p:nvPr/>
        </p:nvSpPr>
        <p:spPr>
          <a:xfrm>
            <a:off x="4846320" y="2523744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dirty="0" sz="1700" lang="en-US"/>
          </a:p>
        </p:txBody>
      </p:sp>
      <p:sp>
        <p:nvSpPr>
          <p:cNvPr id="1048618" name="Text 32"/>
          <p:cNvSpPr/>
          <p:nvPr/>
        </p:nvSpPr>
        <p:spPr>
          <a:xfrm>
            <a:off x="5413248" y="2542032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Traffic</a:t>
            </a:r>
            <a:endParaRPr dirty="0" sz="1300" lang="en-US"/>
          </a:p>
        </p:txBody>
      </p:sp>
      <p:sp>
        <p:nvSpPr>
          <p:cNvPr id="1048619" name="Text 33"/>
          <p:cNvSpPr/>
          <p:nvPr/>
        </p:nvSpPr>
        <p:spPr>
          <a:xfrm>
            <a:off x="5413248" y="2871216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Beaconing, DNS Tunnelling, Exfil</a:t>
            </a:r>
            <a:endParaRPr dirty="0" sz="1000" lang="en-US"/>
          </a:p>
        </p:txBody>
      </p:sp>
      <p:sp>
        <p:nvSpPr>
          <p:cNvPr id="1048620" name="Shape 34"/>
          <p:cNvSpPr/>
          <p:nvPr/>
        </p:nvSpPr>
        <p:spPr>
          <a:xfrm>
            <a:off x="4754880" y="3328416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621" name="Text 35"/>
          <p:cNvSpPr/>
          <p:nvPr/>
        </p:nvSpPr>
        <p:spPr>
          <a:xfrm>
            <a:off x="4846320" y="3328416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dirty="0" sz="1700" lang="en-US"/>
          </a:p>
        </p:txBody>
      </p:sp>
      <p:sp>
        <p:nvSpPr>
          <p:cNvPr id="1048622" name="Text 36"/>
          <p:cNvSpPr/>
          <p:nvPr/>
        </p:nvSpPr>
        <p:spPr>
          <a:xfrm>
            <a:off x="5413248" y="3346704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Forensics</a:t>
            </a:r>
            <a:endParaRPr dirty="0" sz="1300" lang="en-US"/>
          </a:p>
        </p:txBody>
      </p:sp>
      <p:sp>
        <p:nvSpPr>
          <p:cNvPr id="1048623" name="Text 37"/>
          <p:cNvSpPr/>
          <p:nvPr/>
        </p:nvSpPr>
        <p:spPr>
          <a:xfrm>
            <a:off x="5413248" y="3675888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 &amp; Real-World Investigation</a:t>
            </a:r>
            <a:endParaRPr dirty="0" sz="1000" lang="en-US"/>
          </a:p>
        </p:txBody>
      </p:sp>
      <p:sp>
        <p:nvSpPr>
          <p:cNvPr id="1048624" name="Shape 38"/>
          <p:cNvSpPr/>
          <p:nvPr/>
        </p:nvSpPr>
        <p:spPr>
          <a:xfrm>
            <a:off x="4754880" y="4133088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0D2040"/>
          </a:solidFill>
        </p:spPr>
      </p:sp>
      <p:sp>
        <p:nvSpPr>
          <p:cNvPr id="1048625" name="Text 39"/>
          <p:cNvSpPr/>
          <p:nvPr/>
        </p:nvSpPr>
        <p:spPr>
          <a:xfrm>
            <a:off x="4846320" y="4133088"/>
            <a:ext cx="502920" cy="69494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1700" lang="en-US"/>
          </a:p>
        </p:txBody>
      </p:sp>
      <p:sp>
        <p:nvSpPr>
          <p:cNvPr id="1048626" name="Text 40"/>
          <p:cNvSpPr/>
          <p:nvPr/>
        </p:nvSpPr>
        <p:spPr>
          <a:xfrm>
            <a:off x="5413248" y="4151376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Tips</a:t>
            </a:r>
            <a:endParaRPr dirty="0" sz="1300" lang="en-US"/>
          </a:p>
        </p:txBody>
      </p:sp>
      <p:sp>
        <p:nvSpPr>
          <p:cNvPr id="1048627" name="Text 41"/>
          <p:cNvSpPr/>
          <p:nvPr/>
        </p:nvSpPr>
        <p:spPr>
          <a:xfrm>
            <a:off x="5413248" y="4480560"/>
            <a:ext cx="3520440" cy="2926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tshark CLI, Profiles, Automation</a:t>
            </a:r>
            <a:endParaRPr dirty="0" sz="1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632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633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dirty="0" sz="1800" lang="en-US"/>
          </a:p>
        </p:txBody>
      </p:sp>
      <p:sp>
        <p:nvSpPr>
          <p:cNvPr id="1048634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Wireshark?</a:t>
            </a:r>
            <a:endParaRPr dirty="0" sz="3400" lang="en-US"/>
          </a:p>
        </p:txBody>
      </p:sp>
      <p:sp>
        <p:nvSpPr>
          <p:cNvPr id="1048635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Installation, Interface, and Your First Packet Capture</a:t>
            </a:r>
            <a:endParaRPr dirty="0" sz="16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640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Wireshark?</a:t>
            </a:r>
            <a:endParaRPr dirty="0" sz="2200" lang="en-US"/>
          </a:p>
        </p:txBody>
      </p:sp>
      <p:sp>
        <p:nvSpPr>
          <p:cNvPr id="1048641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is the world's most popular FREE and open-source network protocol analyser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captures and displays data packets travelling across a network interface in real time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by: Security Analysts, Network Engineers, Penetration Testers, SOC Analysts, CTF players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 1998 by Gerald Combs — originally called Ethereal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Windows, macOS, Linux — available at wireshark.org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SOC: Wireshark is used to investigate alerts, detect C2 beaconing, analyse malware traffic, and reconstruct attacks from PCAP files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3000+ protocols — HTTP, DNS, TCP, TLS, FTP, SMB, ICMP, ARP, and many more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read/write many capture file formats: .pcap, .pcapng, .cap, .etl</a:t>
            </a:r>
            <a:endParaRPr dirty="0" sz="16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646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Wireshark</a:t>
            </a:r>
            <a:endParaRPr dirty="0" sz="2200" lang="en-US"/>
          </a:p>
        </p:txBody>
      </p:sp>
      <p:sp>
        <p:nvSpPr>
          <p:cNvPr id="1048647" name="Shape 2"/>
          <p:cNvSpPr/>
          <p:nvPr/>
        </p:nvSpPr>
        <p:spPr>
          <a:xfrm>
            <a:off x="228600" y="91440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E3F0FB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648" name="Shape 3"/>
          <p:cNvSpPr/>
          <p:nvPr/>
        </p:nvSpPr>
        <p:spPr>
          <a:xfrm>
            <a:off x="4709160" y="91440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E0F5F5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649" name="Text 4"/>
          <p:cNvSpPr/>
          <p:nvPr/>
        </p:nvSpPr>
        <p:spPr>
          <a:xfrm>
            <a:off x="320040" y="1005840"/>
            <a:ext cx="40233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Windows</a:t>
            </a:r>
            <a:endParaRPr dirty="0" sz="1500" lang="en-US"/>
          </a:p>
        </p:txBody>
      </p:sp>
      <p:sp>
        <p:nvSpPr>
          <p:cNvPr id="1048650" name="Text 5"/>
          <p:cNvSpPr/>
          <p:nvPr/>
        </p:nvSpPr>
        <p:spPr>
          <a:xfrm>
            <a:off x="4800600" y="1005840"/>
            <a:ext cx="40233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Linux / Ubuntu</a:t>
            </a:r>
            <a:endParaRPr dirty="0" sz="1500" lang="en-US"/>
          </a:p>
        </p:txBody>
      </p:sp>
      <p:sp>
        <p:nvSpPr>
          <p:cNvPr id="1048651" name="Text 6"/>
          <p:cNvSpPr/>
          <p:nvPr/>
        </p:nvSpPr>
        <p:spPr>
          <a:xfrm>
            <a:off x="365760" y="1536192"/>
            <a:ext cx="3931920" cy="32004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from wireshark.org/download.html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WinPcap or Npcap during setup (required for live capture)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Npcap is recommended — more modern and actively maintained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as Administrator for live capture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open Wireshark → you should see network interfaces listed</a:t>
            </a:r>
            <a:endParaRPr dirty="0" sz="1300" lang="en-US"/>
          </a:p>
        </p:txBody>
      </p:sp>
      <p:sp>
        <p:nvSpPr>
          <p:cNvPr id="1048652" name="Text 7"/>
          <p:cNvSpPr/>
          <p:nvPr/>
        </p:nvSpPr>
        <p:spPr>
          <a:xfrm>
            <a:off x="4846320" y="1536192"/>
            <a:ext cx="3931920" cy="32004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apt update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apt install wireshark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install: allow non-root users? → Yes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usermod -aG wireshark $USER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out and log back in, then run: wireshark</a:t>
            </a:r>
            <a:endParaRPr dirty="0" sz="13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3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run: sudo wireshark (simpler but less secure)</a:t>
            </a:r>
            <a:endParaRPr dirty="0" sz="13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657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Interface — 5 Key Areas</a:t>
            </a:r>
            <a:endParaRPr dirty="0" sz="2200" lang="en-US"/>
          </a:p>
        </p:txBody>
      </p:sp>
      <p:sp>
        <p:nvSpPr>
          <p:cNvPr id="1048658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Menu Bar — File, Edit, View, Capture, Analyze, Statistics, Help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Toolbar — Start/Stop capture, open file, save, find, filters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Filter Bar — Type display filters here (e.g. http, dns, ip.addr==x.x.x.x)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Packet List Pane (top) — One row per packet: No, Time, Source, Destination, Protocol, Length, Info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Packet Details Pane (middle) — Expandable tree showing all protocol layers for selected packet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Packet Bytes Pane (bottom) — Raw hex and ASCII representation of the packet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coding: green = normal TCP, light blue = UDP, dark blue = DNS, black = TCP errors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bar at bottom shows capture stats — packets captured, displayed, and dropped</a:t>
            </a:r>
            <a:endParaRPr dirty="0" sz="16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238"/>
        </a:solidFill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663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664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dirty="0" sz="1800" lang="en-US"/>
          </a:p>
        </p:txBody>
      </p:sp>
      <p:sp>
        <p:nvSpPr>
          <p:cNvPr id="1048665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Packets</a:t>
            </a:r>
            <a:endParaRPr dirty="0" sz="3400" lang="en-US"/>
          </a:p>
        </p:txBody>
      </p:sp>
      <p:sp>
        <p:nvSpPr>
          <p:cNvPr id="1048666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Capture, Capture Filters, Saving &amp; Opening PCAPs</a:t>
            </a:r>
            <a:endParaRPr dirty="0" sz="16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671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Live Capture</a:t>
            </a:r>
            <a:endParaRPr dirty="0" sz="2200" lang="en-US"/>
          </a:p>
        </p:txBody>
      </p:sp>
      <p:sp>
        <p:nvSpPr>
          <p:cNvPr id="1048672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Open Wireshark → You will see a list of network interfaces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interface shows a small activity graph — choose the one with traffic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interfaces: eth0 (Ethernet), wlan0 (WiFi), lo (Loopback), any (all interfaces)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Double-click the interface OR select it and click the blue shark fin button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Packets start flowing — use the STOP button (red square) when ready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Ctrl+E = Start/Stop capture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Ctrl+K = Capture Options — set interface, capture filter, file rotation settings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run as Administrator/root for live capture — otherwise interfaces may not appear</a:t>
            </a:r>
            <a:endParaRPr dirty="0" sz="16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677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Filters — Capture Only What You Need</a:t>
            </a:r>
            <a:endParaRPr dirty="0" sz="2200" lang="en-US"/>
          </a:p>
        </p:txBody>
      </p:sp>
      <p:sp>
        <p:nvSpPr>
          <p:cNvPr id="1048678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679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680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681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682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Capture filters are set BEFORE capturing — they limit what is recorded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Written in BPF (Berkeley Packet Filter) syntax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192.168.1.1          # Only traffic to/from this IP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192.168.1.0/24        # Only traffic to/from this subnet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80                   # Only HTTP traffic (port 80)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443                  # Only HTTPS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port 22               # Only SSH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 port 53               # Only DNS queries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port 22               # Exclude SSH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10.0.0.5 and port 80 # This IP AND port 80 only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 host 192.168.1.100    # Only packets FROM this source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 host 8.8.8.8          # Only packets TO Google DNS</a:t>
            </a:r>
            <a:endParaRPr dirty="0" sz="1300" lang="en-US"/>
          </a:p>
        </p:txBody>
      </p:sp>
      <p:sp>
        <p:nvSpPr>
          <p:cNvPr id="1048683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684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Capture filters reduce file size — essential for long captures. Set in Capture &gt; Options.</a:t>
            </a:r>
            <a:endParaRPr dirty="0" sz="13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689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690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dirty="0" sz="1800" lang="en-US"/>
          </a:p>
        </p:txBody>
      </p:sp>
      <p:sp>
        <p:nvSpPr>
          <p:cNvPr id="1048691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Filters</a:t>
            </a:r>
            <a:endParaRPr dirty="0" sz="3400" lang="en-US"/>
          </a:p>
        </p:txBody>
      </p:sp>
      <p:sp>
        <p:nvSpPr>
          <p:cNvPr id="1048692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&amp; Search Captured Packets — 150+ Essential Filters</a:t>
            </a:r>
            <a:endParaRPr dirty="0" sz="16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3238"/>
        </a:solidFill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697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Filters — IP Address Filters</a:t>
            </a:r>
            <a:endParaRPr dirty="0" sz="2200" lang="en-US"/>
          </a:p>
        </p:txBody>
      </p:sp>
      <p:sp>
        <p:nvSpPr>
          <p:cNvPr id="1048698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699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700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701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702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Display filters work AFTER capture — they hide/show packets from the list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in the Filter Bar at the top of Wireshark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192.168.1.1     # Show ALL traffic involving this IP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ip.src == 10.0.0.5         # Show only packets FROM this source IP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ip.dst == 8.8.8.8          # Show only packets TO this destination IP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192.168.1.0/24  # Show traffic from/to entire subnet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!(ip.addr == 10.0.0.1)     # Exclude this IP from results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ip.src == 1.2.3.4 and ip.dst == 5.6.7.8   # Specific pair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192.168.1.1 or ip.addr == 1.2.3.4  # Either IP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ip.ttl &lt; 10                # Packets with low TTL (possible traceroute)</a:t>
            </a:r>
            <a:endParaRPr dirty="0" sz="1300" lang="en-US"/>
          </a:p>
        </p:txBody>
      </p:sp>
      <p:sp>
        <p:nvSpPr>
          <p:cNvPr id="1048703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704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Green filter bar = valid filter. Red = syntax error. Press Enter to apply.</a:t>
            </a:r>
            <a:endParaRPr dirty="0" sz="13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3238"/>
        </a:solidFill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709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Filters — Protocol Filters</a:t>
            </a:r>
            <a:endParaRPr dirty="0" sz="2200" lang="en-US"/>
          </a:p>
        </p:txBody>
      </p:sp>
      <p:sp>
        <p:nvSpPr>
          <p:cNvPr id="1048710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711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712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713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714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by protocol name — just type the protocol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         # All HTTP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        # HTTPS (same as ssl or tls)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          # All DNS queries and responses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          # All TCP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           # All UDP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          # All ICMP (ping)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           # All ARP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           # FTP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          # Email (SMTP)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smb           # Windows file sharing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dhcp          # DHCP address assignment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          # SSH traffic (encrypted)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telnet        # Telnet (cleartext!)</a:t>
            </a:r>
            <a:endParaRPr dirty="0" sz="1300" lang="en-US"/>
          </a:p>
        </p:txBody>
      </p:sp>
      <p:sp>
        <p:nvSpPr>
          <p:cNvPr id="1048715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716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Combine: http or dns will show both HTTP and DNS traffic together.</a:t>
            </a:r>
            <a:endParaRPr dirty="0" sz="13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3238"/>
        </a:solidFill>
      </p:bgPr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721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Filters — TCP / Port Filters</a:t>
            </a:r>
            <a:endParaRPr dirty="0" sz="2200" lang="en-US"/>
          </a:p>
        </p:txBody>
      </p:sp>
      <p:sp>
        <p:nvSpPr>
          <p:cNvPr id="1048722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723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724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725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726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80          # HTTP port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443         # HTTPS port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22          # SSH port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3389        # RDP (Remote Desktop) port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4444        # Metasploit Meterpreter default C2 port!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8080        # Common alternative HTTP port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udp.port == 53          # DNS port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udp.port == 161         # SNMP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 == 1      # SYN packets only (connection initiation)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 == 1 and tcp.flags.ack == 0  # SYN scan detection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tcp.flags.rst == 1      # Reset packets (closed ports or connection errors)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tcp.analysis.retransmission  # Retransmitted packets (network issues)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tcp.len &gt; 0             # TCP packets with data payload</a:t>
            </a:r>
            <a:endParaRPr dirty="0" sz="1300" lang="en-US"/>
          </a:p>
        </p:txBody>
      </p:sp>
      <p:sp>
        <p:nvSpPr>
          <p:cNvPr id="1048727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728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tcp.port == 4444 is your key filter for detecting Metasploit C2 sessions in PCAP forensics.</a:t>
            </a:r>
            <a:endParaRPr dirty="0" sz="13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3238"/>
        </a:solidFill>
      </p:bgPr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733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Filters — HTTP Filters</a:t>
            </a:r>
            <a:endParaRPr dirty="0" sz="2200" lang="en-US"/>
          </a:p>
        </p:txBody>
      </p:sp>
      <p:sp>
        <p:nvSpPr>
          <p:cNvPr id="1048734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735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736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737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738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                        # All HTTP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                 # HTTP GET, POST, PUT requests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http.response                # HTTP server responses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http.request.method == GET   # Only GET requests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http.request.method == POST  # Only POST requests (often data submission)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http.host contains "google"  # HTTP to domains containing google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http.request.uri contains ".php"  # PHP page requests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http.request.uri contains "passwd"  # Suspicious URI paths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http.response.code == 200    # Successful responses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http.response.code == 404    # Not found errors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http.response.code == 500    # Server errors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contains "password"     # HTTP traffic containing the word password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http.user_agent contains "python"  # Python scripts making HTTP requests (suspicious)</a:t>
            </a:r>
            <a:endParaRPr dirty="0" sz="1300" lang="en-US"/>
          </a:p>
        </p:txBody>
      </p:sp>
      <p:sp>
        <p:nvSpPr>
          <p:cNvPr id="1048739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740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POST requests + .php or /upload URIs are common web shell and data exfiltration indicators.</a:t>
            </a:r>
            <a:endParaRPr dirty="0" sz="13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3238"/>
        </a:solidFill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745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Filters — DNS Filters</a:t>
            </a:r>
            <a:endParaRPr dirty="0" sz="2200" lang="en-US"/>
          </a:p>
        </p:txBody>
      </p:sp>
      <p:sp>
        <p:nvSpPr>
          <p:cNvPr id="1048746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747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748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749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750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                             # All DNS traffic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dns.qry.name                     # Filter packets with DNS query names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dns.qry.name contains "google"   # DNS queries to google.com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dns.qry.name contains "malware"  # Flag suspicious domain queries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dns.flags.response == 0          # DNS queries only (not responses)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dns.flags.response == 1          # DNS responses only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dns.count.answers == 0           # DNS queries with no answer (NXDOMAIN)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dns.qry.type == 1                # A record queries (IPv4 address lookups)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dns.qry.type == 28               # AAAA record queries (IPv6)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dns.qry.type == 16               # TXT record queries (DNS tunnelling!)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dns.resp.len &gt; 200               # Large DNS responses (possible tunnelling)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dns.qry.name.len &gt; 50            # Unusually long subdomain (encoded data!)</a:t>
            </a:r>
            <a:endParaRPr dirty="0" sz="1300" lang="en-US"/>
          </a:p>
        </p:txBody>
      </p:sp>
      <p:sp>
        <p:nvSpPr>
          <p:cNvPr id="1048751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752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dns.qry.type == 16 (TXT) + dns.qry.name.len &gt; 50 = DNS tunnelling detection pattern.</a:t>
            </a:r>
            <a:endParaRPr dirty="0" sz="13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3238"/>
        </a:solidFill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757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Filters — Advanced Combinations</a:t>
            </a:r>
            <a:endParaRPr dirty="0" sz="2200" lang="en-US"/>
          </a:p>
        </p:txBody>
      </p:sp>
      <p:sp>
        <p:nvSpPr>
          <p:cNvPr id="1048758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759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760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761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762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Combining filters with AND / OR / NOT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ip.src == 10.0.0.5 and http.request.method == POST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POST requests from a specific internal IP — possible exfiltration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4444 or tcp.port == 1337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Common attacker/C2 ports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and not ip.dst == 8.8.8.8 and not ip.dst == 1.1.1.1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DNS traffic NOT going to Google or Cloudflare — suspicious!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 and ip.dst != 192.168.0.0/16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 requests going to external IPs directly (bypassing proxy?)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 == 1 and tcp.flags.ack == 0 and ip.src == 10.0.0.5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 scanning from internal host</a:t>
            </a:r>
            <a:endParaRPr dirty="0" sz="1300" lang="en-US"/>
          </a:p>
        </p:txBody>
      </p:sp>
      <p:sp>
        <p:nvSpPr>
          <p:cNvPr id="1048763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764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The NOT (!) operator is powerful — 'not port 443' removes HTTPS noise from view.</a:t>
            </a:r>
            <a:endParaRPr dirty="0" sz="13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3238"/>
        </a:solidFill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769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770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dirty="0" sz="1800" lang="en-US"/>
          </a:p>
        </p:txBody>
      </p:sp>
      <p:sp>
        <p:nvSpPr>
          <p:cNvPr id="1048771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Analysis</a:t>
            </a:r>
            <a:endParaRPr dirty="0" sz="3400" lang="en-US"/>
          </a:p>
        </p:txBody>
      </p:sp>
      <p:sp>
        <p:nvSpPr>
          <p:cNvPr id="1048772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DNS, TCP Handshake, TLS, ICMP, ARP — Inspecting Every Layer</a:t>
            </a:r>
            <a:endParaRPr dirty="0" sz="160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777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HTTP Traffic</a:t>
            </a:r>
            <a:endParaRPr dirty="0" sz="2200" lang="en-US"/>
          </a:p>
        </p:txBody>
      </p:sp>
      <p:sp>
        <p:nvSpPr>
          <p:cNvPr id="1048778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http.request — shows all web requests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any HTTP packet → Follow → HTTP Stream — reconstructs the full conversation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stream view you see: browser request headers + server response + page content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in HTTP analysis: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Cleartext credentials in POST bodies — login forms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Suspicious User-Agent strings — tools like python-requests, curl, Nikto, SQLmap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Unusual URI paths — /cmd.php, /shell.php, /upload — web shell indicators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Large POST requests — possible data exfiltration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Downloads of .exe, .ps1, .bat, .vbs files — malware delivery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&gt; Export Objects &gt; HTTP — extracts files transferred over HTTP from the PCAP</a:t>
            </a:r>
            <a:endParaRPr dirty="0" sz="1600"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783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DNS Traffic — Detect C2 &amp; Tunnelling</a:t>
            </a:r>
            <a:endParaRPr dirty="0" sz="2200" lang="en-US"/>
          </a:p>
        </p:txBody>
      </p:sp>
      <p:sp>
        <p:nvSpPr>
          <p:cNvPr id="1048784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dns — shows all DNS queries and responses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DNS: short query names, A/AAAA record types, responses in milliseconds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DNS patterns to look for: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Very high query volume from a single host (hundreds per minute)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Long random subdomain names: a3f2b9c1d4.evil.com (encoded data!)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DNS TXT record queries (qry.type == 16) — common tunnelling method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Queries to a single external DNS server that is not 8.8.8.8 or 1.1.1.1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NXDOMAIN responses in bulk — malware beacon attempting to phone home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DNS packet → Follow → UDP Stream — see the full DNS conversation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&gt; DNS — shows query counts, response codes, and domain frequency</a:t>
            </a:r>
            <a:endParaRPr dirty="0" sz="1600"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789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Three-Way Handshake in Wireshark</a:t>
            </a:r>
            <a:endParaRPr dirty="0" sz="2200" lang="en-US"/>
          </a:p>
        </p:txBody>
      </p:sp>
      <p:sp>
        <p:nvSpPr>
          <p:cNvPr id="1048790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TCP connection starts with a three-way handshake — visible in Wireshark: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SYN: client → server (tcp.flags.syn==1, tcp.flags.ack==0)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SYN-ACK: server → client (tcp.flags.syn==1, tcp.flags.ack==1)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ACK: client → server (tcp.flags.ack==1 only)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tcp.flags.syn == 1 — shows all SYN packets (connection attempts)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Scan Detection: many SYN packets from one source to many different ports in seconds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tcp.flags.syn == 1 and tcp.flags.ack == 0 — pure SYN scan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 packets (tcp.flags.rst == 1) in response = closed port — classic Nmap scan pattern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flood DDoS: thousands of SYNs from many sources, no completing ACKs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teardown: FIN-ACK → FIN-ACK → ACK (graceful close)</a:t>
            </a:r>
            <a:endParaRPr dirty="0" sz="1600"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795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Analysis — Detect ARP Spoofing</a:t>
            </a:r>
            <a:endParaRPr dirty="0" sz="2200" lang="en-US"/>
          </a:p>
        </p:txBody>
      </p:sp>
      <p:sp>
        <p:nvSpPr>
          <p:cNvPr id="1048796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arp — shows all ARP requests and replies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Request: 'Who has 192.168.1.1? Tell 192.168.1.50'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Reply: '192.168.1.1 is at AA:BB:CC:DD:EE:FF'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ARP: occasional requests, consistent MAC-to-IP mapping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Spoofing Indicators: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Same IP address appearing with two different MAC addresses — classic spoofing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Gratuitous ARP — unsolicited replies changing the ARP table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High volume of ARP replies from one MAC address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Machine claiming to be the default gateway with a different MAC than expected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to detect: arp.duplicate-address-detected — Wireshark flags this automatically!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ATT&amp;CK: T1557.002 — ARP Cache Poisoning (Man-in-the-Middle)</a:t>
            </a:r>
            <a:endParaRPr dirty="0" sz="1600"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801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Analysis — Ping, Traceroute, Tunnelling</a:t>
            </a:r>
            <a:endParaRPr dirty="0" sz="2200" lang="en-US"/>
          </a:p>
        </p:txBody>
      </p:sp>
      <p:sp>
        <p:nvSpPr>
          <p:cNvPr id="1048802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icmp — shows all ping and ICMP traffic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ICMP: Echo Request (type 8) → Echo Reply (type 0) — small payload ~32 bytes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icmp.type == 8 — filter Echo Requests only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icmp.type == 0 — filter Echo Replies only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ICMP indicators: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Unusually large ICMP payload (&gt; 64 bytes) — possible ICMP tunnelling (data exfiltration)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High frequency of ICMP requests to external IPs — C2 channel via ping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ICMP requests with non-standard data patterns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data.len &gt; 64 and icmp — detects oversized ICMP payloads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Traceroute: increasing TTL values in ICMP requests — visible as ip.ttl filter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ATT&amp;CK: T1095 — Non-Application Layer Protocol (ICMP tunnelling)</a:t>
            </a:r>
            <a:endParaRPr dirty="0" sz="1600"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63238"/>
        </a:solidFill>
      </p:bgPr>
    </p:bg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807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808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dirty="0" sz="1800" lang="en-US"/>
          </a:p>
        </p:txBody>
      </p:sp>
      <p:sp>
        <p:nvSpPr>
          <p:cNvPr id="1048809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Streams</a:t>
            </a:r>
            <a:endParaRPr dirty="0" sz="3400" lang="en-US"/>
          </a:p>
        </p:txBody>
      </p:sp>
      <p:sp>
        <p:nvSpPr>
          <p:cNvPr id="1048810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Full Conversations — TCP, UDP, HTTP, TLS</a:t>
            </a:r>
            <a:endParaRPr dirty="0" sz="1600"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815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Streams — The Most Powerful Wireshark Feature</a:t>
            </a:r>
            <a:endParaRPr dirty="0" sz="2200" lang="en-US"/>
          </a:p>
        </p:txBody>
      </p:sp>
      <p:sp>
        <p:nvSpPr>
          <p:cNvPr id="1048816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a stream reconstructs the full back-and-forth conversation of a connection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do it: Right-click any packet → Follow → TCP Stream (or HTTP, UDP, TLS Stream)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Stream: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Shows complete raw conversation between client and server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Red text = client sent, Blue text = server sent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Useful for: seeing commands sent via a shell, reading cleartext protocols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Stream: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Shows HTTP headers and full page content / POST data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Look for: credentials in POST bodies, file uploads, command responses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Stream: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Encrypted — you will see gibberish unless you have the private key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Useful to confirm TLS version, cipher suite, and certificate details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stream window: use 'Show data as' dropdown — try ASCII, HEX, Raw</a:t>
            </a:r>
            <a:endParaRPr dirty="0" sz="1600"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821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Files &amp; Objects from PCAP</a:t>
            </a:r>
            <a:endParaRPr dirty="0" sz="2200" lang="en-US"/>
          </a:p>
        </p:txBody>
      </p:sp>
      <p:sp>
        <p:nvSpPr>
          <p:cNvPr id="1048822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&gt; Export Objects — extract files that were transferred over the network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 extract web pages, images, executables, scripts downloaded over HTTP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SMB: extract files transferred over Windows file sharing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FTP-DATA: extract files transferred via FTP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DICOM, TFTP, IMF — other supported protocols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File &gt; Export Objects &gt; HTTP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List appears showing all transferred files with filenames and sizes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Click Save All to extract everything, or select individual files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analysis use case: extract .exe or .ps1 file from HTTP download, hash it, check VirusTotal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 use case: extract stolen documents or images from SMB traffic</a:t>
            </a:r>
            <a:endParaRPr dirty="0" sz="1600"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63238"/>
        </a:solidFill>
      </p:bgPr>
    </p:bg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827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828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dirty="0" sz="1800" lang="en-US"/>
          </a:p>
        </p:txBody>
      </p:sp>
      <p:sp>
        <p:nvSpPr>
          <p:cNvPr id="1048829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Expert Info</a:t>
            </a:r>
            <a:endParaRPr dirty="0" sz="3400" lang="en-US"/>
          </a:p>
        </p:txBody>
      </p:sp>
      <p:sp>
        <p:nvSpPr>
          <p:cNvPr id="1048830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 Graph, Conversations, Endpoints, Protocol Hierarchy</a:t>
            </a:r>
            <a:endParaRPr dirty="0" sz="1600"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835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Menu — Essential Tools</a:t>
            </a:r>
            <a:endParaRPr dirty="0" sz="2200" lang="en-US"/>
          </a:p>
        </p:txBody>
      </p:sp>
      <p:sp>
        <p:nvSpPr>
          <p:cNvPr id="1048836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&gt; Protocol Hierarchy — shows breakdown of ALL protocols in the capture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See what percentage of traffic is HTTP, DNS, TLS, TCP, UDP etc.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Unexpected protocols (IRC, Tor, BitTorrent) are immediate red flags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&gt; Conversations — lists all unique IP pairs communicating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Sort by bytes transferred — highest byte count = most active connection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Identify top talkers in the network — external IPs with high traffic = suspicious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&gt; Endpoints — lists all unique IP and MAC addresses seen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Identify unknown devices on the network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&gt; IO Graph — visualises traffic volume over time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Traffic spike = DDoS, malware download, or large exfiltration event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Flat steady baseline with regular small spikes = C2 beaconing pattern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&gt; Expert Information — Wireshark flags errors and warnings automatically</a:t>
            </a:r>
            <a:endParaRPr dirty="0" sz="1600"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63238"/>
        </a:solidFill>
      </p:bgPr>
    </p:bg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841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842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dirty="0" sz="1800" lang="en-US"/>
          </a:p>
        </p:txBody>
      </p:sp>
      <p:sp>
        <p:nvSpPr>
          <p:cNvPr id="1048843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dirty="0" sz="3400" lang="en-US"/>
          </a:p>
        </p:txBody>
      </p:sp>
      <p:sp>
        <p:nvSpPr>
          <p:cNvPr id="1048844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Attacks, Port Scans, Brute Force, Exfiltration</a:t>
            </a:r>
            <a:endParaRPr dirty="0" sz="1600"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0695C"/>
          </a:solidFill>
        </p:spPr>
      </p:sp>
      <p:sp>
        <p:nvSpPr>
          <p:cNvPr id="1048849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Patterns — What to Look For in Wireshark</a:t>
            </a:r>
            <a:endParaRPr dirty="0" sz="2200" lang="en-US"/>
          </a:p>
        </p:txBody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384048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3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dirty="0" sz="13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3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to Use</a:t>
                      </a:r>
                      <a:endParaRPr dirty="0" sz="13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3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dirty="0" sz="13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3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Technique</a:t>
                      </a:r>
                      <a:endParaRPr dirty="0" sz="13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 Scan (Nmap)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tcp.flags.syn==1 &amp;&amp; tcp.flags.ack==0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SYN packets, RST responses, many ports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T1046 Network Scan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 SSH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tcp.port==22 &amp;&amp; tcp.len&gt;0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volume of small TCP packets, repeated patterns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T1110 Brute Force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ARP Spoofing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arp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IP-MAC mappings, gratuitous ARP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T1557.002 ARP Poison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Tunnelling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&amp;&amp; dns.qry.name.len&gt;50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subdomain names, TXT queries, high volume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T1071.004 DNS C2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Beaconing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tcp.port==4444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 intervals, fixed dest IP, small payload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T1071 App Layer C2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Exfiltration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http.request.method==POST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POST to external IP outside business hours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T1048 Exfiltration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ICMP Tunnelling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icmp &amp;&amp; data.len&gt;64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Oversized ping payloads, encoded data in ICMP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T1095 Non-App C2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Shell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http.request.uri contains .php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cmd, whoami, /bin/sh in HTTP response stream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T1505.003 Web Shell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63238"/>
        </a:solidFill>
      </p:bgPr>
    </p:bg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854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Filters — Key Filters for Threat Hunting</a:t>
            </a:r>
            <a:endParaRPr dirty="0" sz="2200" lang="en-US"/>
          </a:p>
        </p:txBody>
      </p:sp>
      <p:sp>
        <p:nvSpPr>
          <p:cNvPr id="1048855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856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857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858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859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 SCAN DETECTION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 == 1 and tcp.flags.ack == 0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BRUTE FORCE DETECTION (many connections same port)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22 and tcp.flags.syn == 1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METERPRETER C2 (Metasploit default port)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4444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CLEARTEXT CREDENTIALS (HTTP POST to login pages)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http.request.method == "POST" and http contains "password"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SUSPICIOUS LARGE DNS (tunnelling)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dns.qry.name.len &gt; 40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EXFILTRATION (large POST to external)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http.request.method == POST and not ip.dst == 192.168.0.0/16</a:t>
            </a:r>
            <a:endParaRPr dirty="0" sz="1300" lang="en-US"/>
          </a:p>
        </p:txBody>
      </p:sp>
      <p:sp>
        <p:nvSpPr>
          <p:cNvPr id="1048860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861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Bookmark these filters in Wireshark — click the + button next to the filter bar to save.</a:t>
            </a:r>
            <a:endParaRPr dirty="0" sz="1300"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63238"/>
        </a:solidFill>
      </p:bgPr>
    </p:bg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5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866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867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dirty="0" sz="1800" lang="en-US"/>
          </a:p>
        </p:txBody>
      </p:sp>
      <p:sp>
        <p:nvSpPr>
          <p:cNvPr id="1048868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Traffic Analysis</a:t>
            </a:r>
            <a:endParaRPr dirty="0" sz="3400" lang="en-US"/>
          </a:p>
        </p:txBody>
      </p:sp>
      <p:sp>
        <p:nvSpPr>
          <p:cNvPr id="1048869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Beaconing, Ransomware, Exploit Kits, Credential Theft</a:t>
            </a:r>
            <a:endParaRPr dirty="0" sz="1600"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</p:bgPr>
    </p:bg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874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Beaconing — How to Detect It</a:t>
            </a:r>
            <a:endParaRPr dirty="0" sz="2200" lang="en-US"/>
          </a:p>
        </p:txBody>
      </p:sp>
      <p:sp>
        <p:nvSpPr>
          <p:cNvPr id="1048875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(Command and Control) beaconing = malware calling home at regular intervals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 of beaconing traffic: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Regular, predictable timing — every 30, 60, or 300 seconds exactly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Small payload size — just enough for a heartbeat or command check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Always the same destination IP/domain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Continues even when user is not actively using the machine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approach to detect beaconing: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Statistics &gt; Conversations — look for connections with many packets, regular spacing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Filter: ip.dst == [suspicious IP] — see all traffic to that destination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Follow TCP Stream — see if payload contains commands or encrypted data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Statistics &gt; IO Graph — look for repeating spikes at fixed intervals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the destination IP with VirusTotal and AbuseIPDB immediately</a:t>
            </a:r>
            <a:endParaRPr dirty="0" sz="1600"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</p:bgPr>
    </p:bg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9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880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Traffic Indicators in Wireshark</a:t>
            </a:r>
            <a:endParaRPr dirty="0" sz="2200" lang="en-US"/>
          </a:p>
        </p:txBody>
      </p:sp>
      <p:sp>
        <p:nvSpPr>
          <p:cNvPr id="1048881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leaves distinct network patterns visible in Wireshark: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Delivery: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HTTP download of .exe, .dll, or .ps1 file — filter: http.request.uri contains .exe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Document downloaded then macro execution — HTTPS to unusual domain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C2 Check-In: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HTTPS POST to external IP — malware sends system info and gets encryption key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Spreading (if worm-like):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SMB traffic on port 445 to many internal IPs rapidly — lateral movement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filter: tcp.port == 445 and ip.src == [infected host]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Impact: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Sudden drop in all network traffic — machine is busy encrypting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DNS queries to random domains fail (NXDOMAIN) — ransom communication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WannaCry traffic shows EternalBlue exploit on port 445 + DoublePulsar shellcode</a:t>
            </a:r>
            <a:endParaRPr dirty="0" sz="1600"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63238"/>
        </a:solidFill>
      </p:bgPr>
    </p:bg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886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887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dirty="0" sz="1800" lang="en-US"/>
          </a:p>
        </p:txBody>
      </p:sp>
      <p:sp>
        <p:nvSpPr>
          <p:cNvPr id="1048888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Forensics</a:t>
            </a:r>
            <a:endParaRPr dirty="0" sz="3400" lang="en-US"/>
          </a:p>
        </p:txBody>
      </p:sp>
      <p:sp>
        <p:nvSpPr>
          <p:cNvPr id="1048889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 Challenges, Real-World Investigation, Extracting Evidence</a:t>
            </a:r>
            <a:endParaRPr dirty="0" sz="1600"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</p:bgPr>
    </p:bg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894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Forensics — Step-by-Step Investigation Methodology</a:t>
            </a:r>
            <a:endParaRPr dirty="0" sz="2200" lang="en-US"/>
          </a:p>
        </p:txBody>
      </p:sp>
      <p:sp>
        <p:nvSpPr>
          <p:cNvPr id="1048895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given a PCAP file to investigate, follow this structured approach: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Protocol Hierarchy (Statistics &gt; Protocol Hierarchy)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Get an overview of what protocols are present. Anything unexpected?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Conversations (Statistics &gt; Conversations)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Who is talking to whom? Any external IPs with high traffic?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Filter for suspicious protocols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Check http, dns, icmp, ftp, smtp, smb for cleartext data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Follow streams on interesting conversations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Right-click &gt; Follow TCP/HTTP Stream on suspicious connections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Export objects (File &gt; Export Objects &gt; HTTP)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Extract any downloaded files — hash them and check VirusTotal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Timeline reconstruction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Sort by time — build a narrative of what happened and when</a:t>
            </a:r>
            <a:endParaRPr dirty="0" sz="1600"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63238"/>
        </a:solidFill>
      </p:bgPr>
    </p:bg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A1628"/>
          </a:solidFill>
        </p:spPr>
      </p:sp>
      <p:sp>
        <p:nvSpPr>
          <p:cNvPr id="1048900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— Command-Line Wireshark (Professional Use)</a:t>
            </a:r>
            <a:endParaRPr dirty="0" sz="2200" lang="en-US"/>
          </a:p>
        </p:txBody>
      </p:sp>
      <p:sp>
        <p:nvSpPr>
          <p:cNvPr id="1048901" name="Shape 2"/>
          <p:cNvSpPr/>
          <p:nvPr/>
        </p:nvSpPr>
        <p:spPr>
          <a:xfrm>
            <a:off x="274320" y="86868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1A1A2E"/>
          </a:solidFill>
          <a:effectLst>
            <a:outerShdw algn="bl" blurRad="101600" dir="2700000" dist="38100" kx="0" ky="0" rotWithShape="0" sx="100000" sy="100000">
              <a:srgbClr val="000000">
                <a:alpha val="14000"/>
              </a:srgbClr>
            </a:outerShdw>
          </a:effectLst>
        </p:spPr>
      </p:sp>
      <p:sp>
        <p:nvSpPr>
          <p:cNvPr id="1048902" name="Shape 3"/>
          <p:cNvSpPr/>
          <p:nvPr/>
        </p:nvSpPr>
        <p:spPr>
          <a:xfrm>
            <a:off x="502920" y="1024128"/>
            <a:ext cx="164592" cy="164592"/>
          </a:xfrm>
          <a:prstGeom prst="ellipse"/>
          <a:solidFill>
            <a:srgbClr val="FF5F56"/>
          </a:solidFill>
        </p:spPr>
      </p:sp>
      <p:sp>
        <p:nvSpPr>
          <p:cNvPr id="1048903" name="Shape 4"/>
          <p:cNvSpPr/>
          <p:nvPr/>
        </p:nvSpPr>
        <p:spPr>
          <a:xfrm>
            <a:off x="749808" y="1024128"/>
            <a:ext cx="164592" cy="164592"/>
          </a:xfrm>
          <a:prstGeom prst="ellipse"/>
          <a:solidFill>
            <a:srgbClr val="FFBD2E"/>
          </a:solidFill>
        </p:spPr>
      </p:sp>
      <p:sp>
        <p:nvSpPr>
          <p:cNvPr id="1048904" name="Shape 5"/>
          <p:cNvSpPr/>
          <p:nvPr/>
        </p:nvSpPr>
        <p:spPr>
          <a:xfrm>
            <a:off x="996696" y="1024128"/>
            <a:ext cx="164592" cy="164592"/>
          </a:xfrm>
          <a:prstGeom prst="ellipse"/>
          <a:solidFill>
            <a:srgbClr val="27C93F"/>
          </a:solidFill>
        </p:spPr>
      </p:sp>
      <p:sp>
        <p:nvSpPr>
          <p:cNvPr id="1048905" name="Text 6"/>
          <p:cNvSpPr/>
          <p:nvPr/>
        </p:nvSpPr>
        <p:spPr>
          <a:xfrm>
            <a:off x="457200" y="1234440"/>
            <a:ext cx="8321040" cy="2926080"/>
          </a:xfrm>
          <a:prstGeom prst="rect"/>
          <a:noFill/>
        </p:spPr>
        <p:txBody>
          <a:bodyPr anchor="t" bIns="101600" lIns="101600" rIns="101600" rtlCol="0" tIns="101600" wrap="square"/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tshark is the terminal version of Wireshark — essential for automation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a PCAP file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tshark -r capture.pcap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a display filter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tshark -r capture.pcap -Y "http.request"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specific fields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tshark -r capture.pcap -Y "dns" -T fields -e dns.qry.name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all HTTP GET requests with source IP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tshark -r capture.pcap -Y "http.request.method==GET" -T fields -e ip.src -e http.request.uri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all DNS queried domains</a:t>
            </a:r>
            <a:endParaRPr dirty="0" sz="1300" lang="en-US"/>
          </a:p>
          <a:p>
            <a:pPr indent="0" marL="0">
              <a:spcAft>
                <a:spcPts val="400"/>
              </a:spcAft>
              <a:buNone/>
            </a:pPr>
            <a:r>
              <a:rPr dirty="0" sz="1300" lang="en-US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tshark -r capture.pcap -T fields -e dns.qry.name | sort | uniq -c | sort -rn</a:t>
            </a:r>
            <a:endParaRPr dirty="0" sz="1300" lang="en-US"/>
          </a:p>
        </p:txBody>
      </p:sp>
      <p:sp>
        <p:nvSpPr>
          <p:cNvPr id="1048906" name="Shape 7"/>
          <p:cNvSpPr/>
          <p:nvPr/>
        </p:nvSpPr>
        <p:spPr>
          <a:xfrm>
            <a:off x="274320" y="44622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</p:spPr>
      </p:sp>
      <p:sp>
        <p:nvSpPr>
          <p:cNvPr id="1048907" name="Text 8"/>
          <p:cNvSpPr/>
          <p:nvPr/>
        </p:nvSpPr>
        <p:spPr>
          <a:xfrm>
            <a:off x="365760" y="4462272"/>
            <a:ext cx="8412480" cy="50292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dirty="0" sz="1300" lang="en-US">
                <a:solidFill>
                  <a:srgbClr val="80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tshark outputs to terminal — pipe to grep, awk, or Python for powerful automated analysis.</a:t>
            </a:r>
            <a:endParaRPr dirty="0" sz="1300"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63238"/>
        </a:solidFill>
      </p:bgPr>
    </p:bg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Shape 0"/>
          <p:cNvSpPr/>
          <p:nvPr/>
        </p:nvSpPr>
        <p:spPr>
          <a:xfrm>
            <a:off x="0" y="0"/>
            <a:ext cx="502920" cy="5143500"/>
          </a:xfrm>
          <a:prstGeom prst="rect"/>
          <a:solidFill>
            <a:srgbClr val="00838F"/>
          </a:solidFill>
        </p:spPr>
      </p:sp>
      <p:sp>
        <p:nvSpPr>
          <p:cNvPr id="1048912" name="Shape 1"/>
          <p:cNvSpPr/>
          <p:nvPr/>
        </p:nvSpPr>
        <p:spPr>
          <a:xfrm>
            <a:off x="3200400" y="914400"/>
            <a:ext cx="2743200" cy="2743200"/>
          </a:xfrm>
          <a:prstGeom prst="ellipse"/>
          <a:solidFill>
            <a:srgbClr val="1A2A3A"/>
          </a:solidFill>
        </p:spPr>
      </p:sp>
      <p:sp>
        <p:nvSpPr>
          <p:cNvPr id="1048913" name="Text 2"/>
          <p:cNvSpPr/>
          <p:nvPr/>
        </p:nvSpPr>
        <p:spPr>
          <a:xfrm>
            <a:off x="640080" y="1280160"/>
            <a:ext cx="77724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dirty="0" sz="1800" lang="en-US"/>
          </a:p>
        </p:txBody>
      </p:sp>
      <p:sp>
        <p:nvSpPr>
          <p:cNvPr id="1048914" name="Text 3"/>
          <p:cNvSpPr/>
          <p:nvPr/>
        </p:nvSpPr>
        <p:spPr>
          <a:xfrm>
            <a:off x="640080" y="1828800"/>
            <a:ext cx="77724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Tips</a:t>
            </a:r>
            <a:endParaRPr dirty="0" sz="3400" lang="en-US"/>
          </a:p>
        </p:txBody>
      </p:sp>
      <p:sp>
        <p:nvSpPr>
          <p:cNvPr id="1048915" name="Text 4"/>
          <p:cNvSpPr/>
          <p:nvPr/>
        </p:nvSpPr>
        <p:spPr>
          <a:xfrm>
            <a:off x="640080" y="2880360"/>
            <a:ext cx="7772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Colouring Rules, Bookmarks, Automation — Work Like a Pro</a:t>
            </a:r>
            <a:endParaRPr dirty="0" sz="1600"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</p:bgPr>
    </p:bg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9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920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Wireshark Tips</a:t>
            </a:r>
            <a:endParaRPr dirty="0" sz="2200" lang="en-US"/>
          </a:p>
        </p:txBody>
      </p:sp>
      <p:sp>
        <p:nvSpPr>
          <p:cNvPr id="1048921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Save Custom Filters — Click the bookmark (flag) icon next to filter bar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Name and save frequently used filters for one-click access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Create Profiles — Edit &gt; Configuration Profiles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Create separate profiles for 'Security Analysis', 'HTTP Debug', 'DNS Analysis'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Each profile remembers your filters, column layout, and colour rules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Customise Columns — Right-click column header &gt; Column Preferences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Add columns: ip.src, ip.dst, tcp.port, http.host — much more useful than defaults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Colouring Rules — View &gt; Colouring Rules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Colour suspicious traffic red — e.g. tcp.port == 4444 → bright red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Makes threats visually obvious in busy captures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Time Reference — Right-click packet &gt; Set Time Reference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Resets time display relative to that packet — useful for incident timelines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Find Packet — Ctrl+F → search by string, hex, or display filter</a:t>
            </a:r>
            <a:endParaRPr dirty="0" sz="1600"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</p:bgPr>
    </p:bg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5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926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Keyboard Shortcuts — Work Faster</a:t>
            </a:r>
            <a:endParaRPr dirty="0" sz="2200" lang="en-US"/>
          </a:p>
        </p:txBody>
      </p:sp>
      <p:graphicFrame>
        <p:nvGraphicFramePr>
          <p:cNvPr id="4194305" name="Table 0"/>
          <p:cNvGraphicFramePr>
            <a:graphicFrameLocks noGrp="1"/>
          </p:cNvGraphicFramePr>
          <p:nvPr/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4297680"/>
              </a:tblGrid>
              <a:tr h="384048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3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</a:t>
                      </a:r>
                      <a:endParaRPr dirty="0" sz="13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3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dirty="0" sz="13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E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/ Stop capture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K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 Options (set interface, filter)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S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 capture file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F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packet (search by string or filter)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G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to specific packet number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Shift + N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packet in selection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↑ / ↓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to previous / next packet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Alt + I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 Interfaces window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F5 / Ctrl + R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/ Restart capture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Shift + X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specified packets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 + →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Expand packet details tree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M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200" lang="en-US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 / Unmark a packet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</p:bgPr>
    </p:bg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0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0D1B2A"/>
          </a:solidFill>
        </p:spPr>
      </p:sp>
      <p:sp>
        <p:nvSpPr>
          <p:cNvPr id="1048931" name="Text 1"/>
          <p:cNvSpPr/>
          <p:nvPr/>
        </p:nvSpPr>
        <p:spPr>
          <a:xfrm>
            <a:off x="365760" y="0"/>
            <a:ext cx="8412480" cy="7498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Resources — Where to Learn More</a:t>
            </a:r>
            <a:endParaRPr dirty="0" sz="2200" lang="en-US"/>
          </a:p>
        </p:txBody>
      </p:sp>
      <p:sp>
        <p:nvSpPr>
          <p:cNvPr id="1048932" name="Text 2"/>
          <p:cNvSpPr/>
          <p:nvPr/>
        </p:nvSpPr>
        <p:spPr>
          <a:xfrm>
            <a:off x="365760" y="868680"/>
            <a:ext cx="8412480" cy="411480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PCAP files to practice on: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malware-traffic-analysis.net — real malware PCAPs with write-ups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wireshark.org/docs/dfref — display filter reference — bookmark this!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cloudshark.org — browser-based PCAP viewer with sample captures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TryHackMe — Wireshark rooms: 'Wireshark: The Basics', 'Wireshark: Packet Operations'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Hack The Box — many network forensics challenges use Wireshark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work alongside Wireshark: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NetworkMiner — extracts files and credentials from PCAP automatically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Zeek (formerly Bro) — network security monitoring log generator from PCAP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Suricata — run IDS rules against PCAP files to detect known signatures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tcpdump — command-line packet capture tool (capture, then open in Wireshark)</a:t>
            </a:r>
            <a:endParaRPr dirty="0" sz="16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b="1" dirty="0" sz="1600" lang="en-US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goal: Download a PCAP from malware-traffic-analysis.net and investigate it!</a:t>
            </a:r>
            <a:endParaRPr dirty="0" sz="1600"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2A"/>
        </a:solidFill>
      </p:bgPr>
    </p:bg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6" name="Shape 0"/>
          <p:cNvSpPr/>
          <p:nvPr/>
        </p:nvSpPr>
        <p:spPr>
          <a:xfrm>
            <a:off x="0" y="0"/>
            <a:ext cx="9144000" cy="5143500"/>
          </a:xfrm>
          <a:prstGeom prst="rect"/>
          <a:solidFill>
            <a:srgbClr val="0D1B2A"/>
          </a:solidFill>
        </p:spPr>
      </p:sp>
      <p:sp>
        <p:nvSpPr>
          <p:cNvPr id="1048937" name="Shape 1"/>
          <p:cNvSpPr/>
          <p:nvPr/>
        </p:nvSpPr>
        <p:spPr>
          <a:xfrm>
            <a:off x="0" y="3840480"/>
            <a:ext cx="9144000" cy="1303020"/>
          </a:xfrm>
          <a:prstGeom prst="rect"/>
          <a:solidFill>
            <a:srgbClr val="050D1A"/>
          </a:solidFill>
        </p:spPr>
      </p:sp>
      <p:sp>
        <p:nvSpPr>
          <p:cNvPr id="1048940" name="Text 4"/>
          <p:cNvSpPr/>
          <p:nvPr/>
        </p:nvSpPr>
        <p:spPr>
          <a:xfrm>
            <a:off x="457200" y="1691640"/>
            <a:ext cx="822960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Ready to Use Wireshark Like a Professional</a:t>
            </a:r>
            <a:endParaRPr dirty="0" sz="2600" lang="en-US"/>
          </a:p>
        </p:txBody>
      </p:sp>
      <p:sp>
        <p:nvSpPr>
          <p:cNvPr id="1048941" name="Text 5"/>
          <p:cNvSpPr/>
          <p:nvPr/>
        </p:nvSpPr>
        <p:spPr>
          <a:xfrm>
            <a:off x="457200" y="2514600"/>
            <a:ext cx="822960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lang="en-US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 covered: Capture &amp; Display Filters · Protocol Analysis · TCP/HTTP/DNS/ARP · Security Threat Detection · C2 Beaconing · PCAP Forensics · tshark CLI · Professional Tips</a:t>
            </a:r>
            <a:endParaRPr dirty="0" sz="1300" lang="en-US"/>
          </a:p>
        </p:txBody>
      </p:sp>
      <p:sp>
        <p:nvSpPr>
          <p:cNvPr id="1048942" name="Text 6"/>
          <p:cNvSpPr/>
          <p:nvPr/>
        </p:nvSpPr>
        <p:spPr>
          <a:xfrm>
            <a:off x="457200" y="3977640"/>
            <a:ext cx="82296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A  |  arjunarumughan02@gmail.com  |  github.com/arjunarju123  |  CEH Certified</a:t>
            </a:r>
            <a:endParaRPr dirty="0" sz="12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Wireshark A to Z — Complete Guide</dc:title>
  <dc:creator>Arjun A</dc:creator>
  <cp:lastModifiedBy>Arjun A</cp:lastModifiedBy>
  <dcterms:created xsi:type="dcterms:W3CDTF">2026-06-17T02:06:20Z</dcterms:created>
  <dcterms:modified xsi:type="dcterms:W3CDTF">2026-06-18T18:53:01Z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3ff28556eb574cd2846086b703a53719</vt:lpwstr>
  </property>
</Properties>
</file>